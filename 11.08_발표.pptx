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73" r:id="rId2"/>
    <p:sldId id="269" r:id="rId3"/>
    <p:sldId id="270" r:id="rId4"/>
    <p:sldId id="271" r:id="rId5"/>
    <p:sldId id="272" r:id="rId6"/>
    <p:sldId id="264" r:id="rId7"/>
    <p:sldId id="265" r:id="rId8"/>
    <p:sldId id="266" r:id="rId9"/>
    <p:sldId id="268" r:id="rId10"/>
    <p:sldId id="256" r:id="rId11"/>
    <p:sldId id="257" r:id="rId12"/>
    <p:sldId id="259" r:id="rId13"/>
    <p:sldId id="260" r:id="rId14"/>
  </p:sldIdLst>
  <p:sldSz cx="12192000" cy="6858000"/>
  <p:notesSz cx="6858000" cy="9144000"/>
  <p:embeddedFontLst>
    <p:embeddedFont>
      <p:font typeface="맑은 고딕" panose="020B0503020000020004" pitchFamily="50" charset="-127"/>
      <p:regular r:id="rId16"/>
      <p:bold r:id="rId17"/>
    </p:embeddedFont>
    <p:embeddedFont>
      <p:font typeface="새굴림" panose="02030600000101010101" pitchFamily="18" charset="-127"/>
      <p:regular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338EBD-1DFB-42AB-9231-A0818AC0A156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3DDED4-03D0-486D-B3FA-8F28D7BBBF4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2117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DDED4-03D0-486D-B3FA-8F28D7BBBF4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198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2E82A6-47EF-46B1-BD24-E0D06AA1B3D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02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3DDED4-03D0-486D-B3FA-8F28D7BBBF4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1378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6A74A9-A303-A62E-D329-AF4EBA3BCF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252157-ECFE-88DC-E663-D98A24983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0D8BF-2D47-5EE6-46DE-20086BCB1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E91C6-4861-46BF-95CD-BC5D799474A1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86C1F8-E288-1284-0C78-8C06A4FF3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B6E1AF-185D-FCA5-6257-22A19A6A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5B72-E6A8-431C-A3CE-FA067ED9D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925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2A8732-49BF-686A-2767-C2EB53379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543E8C-0984-AD95-A681-CD2CF0EEF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CA09D4-A66C-8333-C144-20DFEFBA9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E91C6-4861-46BF-95CD-BC5D799474A1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BD116E-54E8-427B-7D64-5EA4A3605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2A8A4E-147E-226C-9DCE-866D9C4B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5B72-E6A8-431C-A3CE-FA067ED9D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753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BFA2E-C253-6D7A-614D-2E7B98FA6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CE469E-874D-368F-19D0-4F9E4DD08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FA78DC-25D4-4B7A-DE0E-13D7E4ACF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E91C6-4861-46BF-95CD-BC5D799474A1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EC8649-5F2A-FD74-9E29-5ACE58E2D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FFDC60-DE45-5D96-680F-CD3D48768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5B72-E6A8-431C-A3CE-FA067ED9D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037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3C374F-30F0-8798-B507-92AB1F23A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C815CC-E43C-6CBE-0C7B-128540D33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3F44EF-48B6-2952-E5BA-EA57BF99E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B34C56-ED7D-024C-0269-616B56AB6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E91C6-4861-46BF-95CD-BC5D799474A1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3EE316-91AC-07D0-948D-2EAA1C15C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41B725-93B8-43A0-9DB2-307387099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5B72-E6A8-431C-A3CE-FA067ED9D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056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40252-4BBA-6414-D2B4-9AF2D9020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35C43C4-03CF-CBC1-2A04-C938EEBD8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8E3255-D352-4622-A62D-7985380DC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C49C4C6-AA33-7C63-2A7A-3757BBF84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053ADF-69EE-CA53-DF1E-9D94085D21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45EA403-A1B5-F848-4000-8D581B7D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E91C6-4861-46BF-95CD-BC5D799474A1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B08DB0B-A313-BE9E-F381-6EAB7A4AE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9E3F40-E99A-2542-7C93-803FD1673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5B72-E6A8-431C-A3CE-FA067ED9D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2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9AB4D5-DD4D-5847-9CAF-247F673C0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C51918-FAB7-A120-E904-A74D88527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E91C6-4861-46BF-95CD-BC5D799474A1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11B5564-96CE-FE52-E3E3-A99049E7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E0D14E-D972-09F0-27BB-222B579CD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5B72-E6A8-431C-A3CE-FA067ED9D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11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4DAFC6F-CECC-6F43-202F-45FCC1C73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E91C6-4861-46BF-95CD-BC5D799474A1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2EC78D-A955-8001-27C7-0AB591C0B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228BBF-6863-E776-09A5-A5FF886CB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5B72-E6A8-431C-A3CE-FA067ED9D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4643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7C0688-F2B0-A513-FF47-F2BF2A62B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376EF-6751-3028-A37F-7A935F7FA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34DF62-0D75-E5C8-5F22-CC727E9C2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6BDA6F-977D-7D2C-68DF-ECCCE2D58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E91C6-4861-46BF-95CD-BC5D799474A1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E38F2C8-317C-A10A-BD41-CCC179E30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2DE604-0B7F-AB95-3AE9-B7A711D97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5B72-E6A8-431C-A3CE-FA067ED9D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9575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634081-840B-6A5B-6A93-9F50D0817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EB0EC5-6CA7-0EAC-615E-EE56C94D4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909D15-1FE2-C213-3971-6346483FE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D3A2D7-C5EC-4D74-3E3F-7E3551E59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E91C6-4861-46BF-95CD-BC5D799474A1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DD24992-0E73-272A-D160-DB5CD464F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4B5F3C-6768-31DF-61A8-4C569571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5B72-E6A8-431C-A3CE-FA067ED9D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162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07F0A4-9B01-FE30-0B5A-8555B03C2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50C3C7C-A194-C25F-4D28-3E50DFE01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1A283F-6C9F-6E33-3E18-6E9CB8850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E91C6-4861-46BF-95CD-BC5D799474A1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814389-88D2-02F5-F4C0-9215628BC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669628-04D8-75F1-ADD8-E741D5A1F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5B72-E6A8-431C-A3CE-FA067ED9D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852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8E60E2E-726C-9904-F615-34A2A489F7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C07B52-F781-40FE-B913-AD5767556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EC3ED9-BA02-7ED5-1C1F-B1DF80D59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4E91C6-4861-46BF-95CD-BC5D799474A1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CCC418-DB13-5806-1F7E-4AEB7836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8C60FC-BFAC-9CB2-09C9-0F91BB94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85B72-E6A8-431C-A3CE-FA067ED9D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029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E9290BD-4196-DBC3-68A4-126731B0B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AAEBA4-4E1B-DCC3-2E35-1B04E8FCC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38B4FF-43B4-101D-D009-E3E066398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4E91C6-4861-46BF-95CD-BC5D799474A1}" type="datetimeFigureOut">
              <a:rPr lang="ko-KR" altLang="en-US" smtClean="0"/>
              <a:t>2024-11-08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8EA76F-4FB5-5039-7044-1825CC229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B25751-55F2-E8AB-2D44-2400F1C2E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85B72-E6A8-431C-A3CE-FA067ED9D0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01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6C5C9F6-C3E8-3C40-E1AF-517D3F6C32B1}"/>
              </a:ext>
            </a:extLst>
          </p:cNvPr>
          <p:cNvSpPr/>
          <p:nvPr/>
        </p:nvSpPr>
        <p:spPr>
          <a:xfrm>
            <a:off x="1821711" y="3082740"/>
            <a:ext cx="8548577" cy="76554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63A137-AF3D-75AE-C27F-A352F1A805BC}"/>
              </a:ext>
            </a:extLst>
          </p:cNvPr>
          <p:cNvSpPr txBox="1"/>
          <p:nvPr/>
        </p:nvSpPr>
        <p:spPr>
          <a:xfrm>
            <a:off x="2300177" y="2574908"/>
            <a:ext cx="75916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 dirty="0">
                <a:latin typeface="+mj-ea"/>
                <a:ea typeface="+mj-ea"/>
              </a:rPr>
              <a:t>주식 예측 </a:t>
            </a:r>
            <a:r>
              <a:rPr lang="en-US" altLang="ko-KR" sz="6000" b="1" dirty="0">
                <a:latin typeface="+mj-ea"/>
                <a:ea typeface="+mj-ea"/>
              </a:rPr>
              <a:t>AI </a:t>
            </a:r>
            <a:r>
              <a:rPr lang="ko-KR" altLang="en-US" sz="6000" b="1" dirty="0">
                <a:latin typeface="+mj-ea"/>
                <a:ea typeface="+mj-ea"/>
              </a:rPr>
              <a:t>모델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5AF969-63C7-2962-AC63-2E0AEF4246EE}"/>
              </a:ext>
            </a:extLst>
          </p:cNvPr>
          <p:cNvSpPr txBox="1"/>
          <p:nvPr/>
        </p:nvSpPr>
        <p:spPr>
          <a:xfrm>
            <a:off x="7510131" y="3894452"/>
            <a:ext cx="2636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dirty="0">
                <a:latin typeface="새굴림" panose="02030600000101010101" pitchFamily="18" charset="-127"/>
                <a:ea typeface="새굴림" panose="02030600000101010101" pitchFamily="18" charset="-127"/>
              </a:rPr>
              <a:t>20221740 </a:t>
            </a:r>
            <a:r>
              <a:rPr lang="ko-KR" altLang="en-US" dirty="0">
                <a:latin typeface="새굴림" panose="02030600000101010101" pitchFamily="18" charset="-127"/>
                <a:ea typeface="새굴림" panose="02030600000101010101" pitchFamily="18" charset="-127"/>
              </a:rPr>
              <a:t>김유정</a:t>
            </a:r>
            <a:endParaRPr lang="en-US" altLang="ko-KR" dirty="0">
              <a:latin typeface="새굴림" panose="02030600000101010101" pitchFamily="18" charset="-127"/>
              <a:ea typeface="새굴림" panose="02030600000101010101" pitchFamily="18" charset="-127"/>
            </a:endParaRPr>
          </a:p>
          <a:p>
            <a:pPr algn="r"/>
            <a:r>
              <a:rPr lang="en-US" altLang="ko-KR" dirty="0">
                <a:latin typeface="새굴림" panose="02030600000101010101" pitchFamily="18" charset="-127"/>
                <a:ea typeface="새굴림" panose="02030600000101010101" pitchFamily="18" charset="-127"/>
              </a:rPr>
              <a:t>20201846 </a:t>
            </a:r>
            <a:r>
              <a:rPr lang="ko-KR" altLang="en-US" dirty="0">
                <a:latin typeface="새굴림" panose="02030600000101010101" pitchFamily="18" charset="-127"/>
                <a:ea typeface="새굴림" panose="02030600000101010101" pitchFamily="18" charset="-127"/>
              </a:rPr>
              <a:t>조영서 </a:t>
            </a:r>
            <a:endParaRPr lang="en-US" altLang="ko-KR" dirty="0">
              <a:latin typeface="새굴림" panose="02030600000101010101" pitchFamily="18" charset="-127"/>
              <a:ea typeface="새굴림" panose="02030600000101010101" pitchFamily="18" charset="-127"/>
            </a:endParaRPr>
          </a:p>
          <a:p>
            <a:pPr algn="r"/>
            <a:r>
              <a:rPr lang="en-US" altLang="ko-KR" dirty="0">
                <a:latin typeface="새굴림" panose="02030600000101010101" pitchFamily="18" charset="-127"/>
                <a:ea typeface="새굴림" panose="02030600000101010101" pitchFamily="18" charset="-127"/>
              </a:rPr>
              <a:t>20202117 </a:t>
            </a:r>
            <a:r>
              <a:rPr lang="ko-KR" altLang="en-US" dirty="0" err="1">
                <a:latin typeface="새굴림" panose="02030600000101010101" pitchFamily="18" charset="-127"/>
                <a:ea typeface="새굴림" panose="02030600000101010101" pitchFamily="18" charset="-127"/>
              </a:rPr>
              <a:t>백아영</a:t>
            </a:r>
            <a:endParaRPr lang="ko-KR" altLang="en-US" dirty="0">
              <a:latin typeface="새굴림" panose="02030600000101010101" pitchFamily="18" charset="-127"/>
              <a:ea typeface="새굴림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59027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FE8A28F-E158-BF44-78BA-8D7BAECF21F0}"/>
              </a:ext>
            </a:extLst>
          </p:cNvPr>
          <p:cNvSpPr txBox="1"/>
          <p:nvPr/>
        </p:nvSpPr>
        <p:spPr>
          <a:xfrm>
            <a:off x="4160983" y="341808"/>
            <a:ext cx="387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latin typeface="+mn-ea"/>
              </a:rPr>
              <a:t>개선점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5B926F07-D82B-822A-3E73-3B0862E1314A}"/>
              </a:ext>
            </a:extLst>
          </p:cNvPr>
          <p:cNvGrpSpPr/>
          <p:nvPr/>
        </p:nvGrpSpPr>
        <p:grpSpPr>
          <a:xfrm>
            <a:off x="492257" y="1348555"/>
            <a:ext cx="9556617" cy="1922973"/>
            <a:chOff x="729674" y="1524687"/>
            <a:chExt cx="9556617" cy="192297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504BBF2-1503-C6D9-2701-C532028ABB6D}"/>
                </a:ext>
              </a:extLst>
            </p:cNvPr>
            <p:cNvSpPr txBox="1"/>
            <p:nvPr/>
          </p:nvSpPr>
          <p:spPr>
            <a:xfrm>
              <a:off x="729674" y="1524687"/>
              <a:ext cx="68626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atin typeface="+mn-ea"/>
                </a:rPr>
                <a:t>- </a:t>
              </a:r>
              <a:r>
                <a:rPr lang="ko-KR" altLang="en-US" sz="2800" b="1" dirty="0">
                  <a:latin typeface="+mn-ea"/>
                </a:rPr>
                <a:t>피드백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E5A3F5-D8BE-C8AE-3E0C-B591026E3BA2}"/>
                </a:ext>
              </a:extLst>
            </p:cNvPr>
            <p:cNvSpPr txBox="1"/>
            <p:nvPr/>
          </p:nvSpPr>
          <p:spPr>
            <a:xfrm>
              <a:off x="1279964" y="2124221"/>
              <a:ext cx="9006327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+mn-ea"/>
                </a:rPr>
                <a:t>단일 종목보다는 관련 종목을 같이 학습하는 편이 더 정확할 수 있다</a:t>
              </a:r>
              <a:endParaRPr lang="en-US" altLang="ko-KR" sz="2000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ko-KR" sz="2000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ko-KR" sz="2000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+mn-ea"/>
                </a:rPr>
                <a:t>종목마다 다른 스케일을 고려하여 예측 수행</a:t>
              </a: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113D474F-AEC9-2634-9BA7-0E0B5A7484E1}"/>
              </a:ext>
            </a:extLst>
          </p:cNvPr>
          <p:cNvGrpSpPr/>
          <p:nvPr/>
        </p:nvGrpSpPr>
        <p:grpSpPr>
          <a:xfrm>
            <a:off x="492257" y="3672655"/>
            <a:ext cx="10070968" cy="2230750"/>
            <a:chOff x="729674" y="1524687"/>
            <a:chExt cx="10070968" cy="223075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3C79809-1B76-DE0D-A926-097767F4B028}"/>
                </a:ext>
              </a:extLst>
            </p:cNvPr>
            <p:cNvSpPr txBox="1"/>
            <p:nvPr/>
          </p:nvSpPr>
          <p:spPr>
            <a:xfrm>
              <a:off x="729674" y="1524687"/>
              <a:ext cx="686261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atin typeface="+mn-ea"/>
                </a:rPr>
                <a:t>- </a:t>
              </a:r>
              <a:r>
                <a:rPr lang="ko-KR" altLang="en-US" sz="2800" b="1" dirty="0">
                  <a:latin typeface="+mn-ea"/>
                </a:rPr>
                <a:t>해결방안</a:t>
              </a:r>
              <a:endParaRPr lang="en-US" altLang="ko-KR" sz="2800" b="1" dirty="0">
                <a:latin typeface="+mn-ea"/>
              </a:endParaRPr>
            </a:p>
            <a:p>
              <a:endParaRPr lang="ko-KR" altLang="en-US" sz="2800" b="1" dirty="0">
                <a:latin typeface="+mn-ea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35CC3A5-138D-2920-D376-388EBF2EE199}"/>
                </a:ext>
              </a:extLst>
            </p:cNvPr>
            <p:cNvSpPr txBox="1"/>
            <p:nvPr/>
          </p:nvSpPr>
          <p:spPr>
            <a:xfrm>
              <a:off x="1279964" y="2124221"/>
              <a:ext cx="9520678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+mn-ea"/>
                </a:rPr>
                <a:t>유사도지표를 활용하여 관련 종목을 표시할 수 있도록 함</a:t>
              </a:r>
              <a:endParaRPr lang="en-US" altLang="ko-KR" sz="2000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ko-KR" sz="2000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ko-KR" sz="2000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000" dirty="0"/>
                <a:t>한 종목을 택했을 때</a:t>
              </a:r>
              <a:r>
                <a:rPr lang="en-US" altLang="ko-KR" sz="2000" dirty="0"/>
                <a:t>, </a:t>
              </a:r>
              <a:r>
                <a:rPr lang="ko-KR" altLang="en-US" sz="2000" dirty="0"/>
                <a:t>다른 연관 종목이 나올 수 있도록 코사인 유사도 활용</a:t>
              </a:r>
              <a:endParaRPr lang="en-US" altLang="ko-KR" sz="2000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ko-KR" sz="20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3574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ACB8F-DD06-1D79-3A49-8ECFBDD4E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FF5817-1D23-4731-2E7A-09EF1E6B7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72" y="300403"/>
            <a:ext cx="10942655" cy="29346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62BDCA-B7AF-BF3F-A290-91AE66F1E00E}"/>
              </a:ext>
            </a:extLst>
          </p:cNvPr>
          <p:cNvSpPr txBox="1"/>
          <p:nvPr/>
        </p:nvSpPr>
        <p:spPr>
          <a:xfrm>
            <a:off x="2123759" y="5029200"/>
            <a:ext cx="7944479" cy="110799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2200" dirty="0"/>
              <a:t>다음과 같은 기업 정보 관련 데이터 활용</a:t>
            </a:r>
            <a:endParaRPr lang="en-US" altLang="ko-KR" sz="2200" dirty="0"/>
          </a:p>
          <a:p>
            <a:pPr algn="ctr"/>
            <a:endParaRPr lang="en-US" altLang="ko-KR" sz="2200" dirty="0"/>
          </a:p>
          <a:p>
            <a:pPr algn="ctr"/>
            <a:r>
              <a:rPr lang="ko-KR" altLang="en-US" sz="2200" dirty="0"/>
              <a:t>코사인 유사도를 사용하기 위해 선택한 컬럼 </a:t>
            </a:r>
            <a:r>
              <a:rPr lang="en-US" altLang="ko-KR" sz="2200" dirty="0"/>
              <a:t>: Sector, Industry</a:t>
            </a:r>
            <a:endParaRPr lang="ko-KR" altLang="en-US" sz="22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AA5999-72BF-5B09-A72A-B4E59465BD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975" r="58531"/>
          <a:stretch/>
        </p:blipFill>
        <p:spPr>
          <a:xfrm>
            <a:off x="3019425" y="1329102"/>
            <a:ext cx="2099157" cy="3633423"/>
          </a:xfrm>
          <a:prstGeom prst="rect">
            <a:avLst/>
          </a:prstGeom>
          <a:ln w="76200">
            <a:solidFill>
              <a:srgbClr val="FFFF00"/>
            </a:solidFill>
          </a:ln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E0F33E1-AC4E-E856-4FE0-F1A65536450A}"/>
              </a:ext>
            </a:extLst>
          </p:cNvPr>
          <p:cNvCxnSpPr/>
          <p:nvPr/>
        </p:nvCxnSpPr>
        <p:spPr>
          <a:xfrm flipV="1">
            <a:off x="4295775" y="600075"/>
            <a:ext cx="190500" cy="729027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C7F7BE-3D52-CF16-E271-19FE7C2A06E6}"/>
              </a:ext>
            </a:extLst>
          </p:cNvPr>
          <p:cNvSpPr/>
          <p:nvPr/>
        </p:nvSpPr>
        <p:spPr>
          <a:xfrm>
            <a:off x="3667125" y="352425"/>
            <a:ext cx="1543050" cy="276225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06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5D495-B3A9-6391-BD44-916908B57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4AE9C9F-16A3-3E62-8009-EFC99B9A6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898" y="795116"/>
            <a:ext cx="7674204" cy="349113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719894E-E458-7D45-28BA-E755934F2A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298" t="18150" r="34858" b="71755"/>
          <a:stretch/>
        </p:blipFill>
        <p:spPr>
          <a:xfrm>
            <a:off x="5353050" y="2105025"/>
            <a:ext cx="1676400" cy="35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43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75609-246C-B068-13E7-760609CF0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49A436BB-DD5A-C642-C4EB-21745E9B00B6}"/>
              </a:ext>
            </a:extLst>
          </p:cNvPr>
          <p:cNvGrpSpPr/>
          <p:nvPr/>
        </p:nvGrpSpPr>
        <p:grpSpPr>
          <a:xfrm>
            <a:off x="492257" y="1043755"/>
            <a:ext cx="9556617" cy="2230750"/>
            <a:chOff x="729674" y="1524687"/>
            <a:chExt cx="9556617" cy="223075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FC69880-272A-A38E-CB12-B1F7622C867C}"/>
                </a:ext>
              </a:extLst>
            </p:cNvPr>
            <p:cNvSpPr txBox="1"/>
            <p:nvPr/>
          </p:nvSpPr>
          <p:spPr>
            <a:xfrm>
              <a:off x="729674" y="1524687"/>
              <a:ext cx="68626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atin typeface="+mn-ea"/>
                </a:rPr>
                <a:t>- </a:t>
              </a:r>
              <a:r>
                <a:rPr lang="ko-KR" altLang="en-US" sz="2800" b="1" dirty="0">
                  <a:latin typeface="+mn-ea"/>
                </a:rPr>
                <a:t>보완사항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4FFCBFC-2BB2-D1BE-5775-9D9883C9466C}"/>
                </a:ext>
              </a:extLst>
            </p:cNvPr>
            <p:cNvSpPr txBox="1"/>
            <p:nvPr/>
          </p:nvSpPr>
          <p:spPr>
            <a:xfrm>
              <a:off x="1279964" y="2124221"/>
              <a:ext cx="9006327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+mn-ea"/>
                </a:rPr>
                <a:t>단순 분야 뿐만 아니라 다른 지표들을 활용하는 방안도 </a:t>
              </a:r>
              <a:r>
                <a:rPr lang="ko-KR" altLang="en-US" sz="2000" dirty="0" err="1">
                  <a:latin typeface="+mn-ea"/>
                </a:rPr>
                <a:t>생각중</a:t>
              </a:r>
              <a:endParaRPr lang="en-US" altLang="ko-KR" sz="2000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ko-KR" sz="2000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+mn-ea"/>
                </a:rPr>
                <a:t>스케일을 반영하는 유사도 고려하지 않음 </a:t>
              </a:r>
              <a:r>
                <a:rPr lang="en-US" altLang="ko-KR" sz="2000" dirty="0">
                  <a:latin typeface="+mn-ea"/>
                </a:rPr>
                <a:t>-&gt; </a:t>
              </a:r>
              <a:r>
                <a:rPr lang="ko-KR" altLang="en-US" sz="2000" dirty="0">
                  <a:latin typeface="+mn-ea"/>
                </a:rPr>
                <a:t>다른 지표 활용</a:t>
              </a:r>
              <a:endParaRPr lang="en-US" altLang="ko-KR" sz="2000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ko-KR" sz="2000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+mn-ea"/>
                </a:rPr>
                <a:t>현 유사도의 경우에도 </a:t>
              </a:r>
              <a:r>
                <a:rPr lang="en-US" altLang="ko-KR" sz="2000" dirty="0">
                  <a:latin typeface="+mn-ea"/>
                </a:rPr>
                <a:t>0.00x</a:t>
              </a:r>
              <a:r>
                <a:rPr lang="ko-KR" altLang="en-US" sz="2000" dirty="0">
                  <a:latin typeface="+mn-ea"/>
                </a:rPr>
                <a:t>로</a:t>
              </a:r>
              <a:r>
                <a:rPr lang="en-US" altLang="ko-KR" sz="2000" dirty="0">
                  <a:latin typeface="+mn-ea"/>
                </a:rPr>
                <a:t> </a:t>
              </a:r>
              <a:r>
                <a:rPr lang="ko-KR" altLang="en-US" sz="2000" dirty="0">
                  <a:latin typeface="+mn-ea"/>
                </a:rPr>
                <a:t>그다지 정확하지 않음 </a:t>
              </a:r>
              <a:r>
                <a:rPr lang="en-US" altLang="ko-KR" sz="2000" dirty="0">
                  <a:latin typeface="+mn-ea"/>
                </a:rPr>
                <a:t>-&gt; </a:t>
              </a:r>
              <a:r>
                <a:rPr lang="ko-KR" altLang="en-US" sz="2000" dirty="0">
                  <a:latin typeface="+mn-ea"/>
                </a:rPr>
                <a:t>정확도 개선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B40EC112-137D-3ACD-FD23-88176B8E00B4}"/>
              </a:ext>
            </a:extLst>
          </p:cNvPr>
          <p:cNvGrpSpPr/>
          <p:nvPr/>
        </p:nvGrpSpPr>
        <p:grpSpPr>
          <a:xfrm>
            <a:off x="492257" y="3672655"/>
            <a:ext cx="10070968" cy="1615197"/>
            <a:chOff x="729674" y="1524687"/>
            <a:chExt cx="10070968" cy="161519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30950A4-B81C-9143-B7F7-8C5ECA04E8F5}"/>
                </a:ext>
              </a:extLst>
            </p:cNvPr>
            <p:cNvSpPr txBox="1"/>
            <p:nvPr/>
          </p:nvSpPr>
          <p:spPr>
            <a:xfrm>
              <a:off x="729674" y="1524687"/>
              <a:ext cx="68626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atin typeface="+mn-ea"/>
                </a:rPr>
                <a:t>- </a:t>
              </a:r>
              <a:r>
                <a:rPr lang="ko-KR" altLang="en-US" sz="2800" b="1" dirty="0">
                  <a:latin typeface="+mn-ea"/>
                </a:rPr>
                <a:t>추후 계획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7A54BD1-64F9-8D5A-3EE0-DF1CE1417E14}"/>
                </a:ext>
              </a:extLst>
            </p:cNvPr>
            <p:cNvSpPr txBox="1"/>
            <p:nvPr/>
          </p:nvSpPr>
          <p:spPr>
            <a:xfrm>
              <a:off x="1279964" y="2124221"/>
              <a:ext cx="952067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+mn-ea"/>
                </a:rPr>
                <a:t>스케일을 반영하는 지표 활용하여 유사도 확인</a:t>
              </a:r>
              <a:endParaRPr lang="en-US" altLang="ko-KR" sz="2000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altLang="ko-KR" sz="2000" dirty="0">
                <a:latin typeface="+mn-ea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ko-KR" altLang="en-US" sz="2000" dirty="0">
                  <a:latin typeface="+mn-ea"/>
                </a:rPr>
                <a:t>유사도를 바탕으로 관련 종목들 모두 예측 수행 가능하도록 모델에 반영 예정</a:t>
              </a:r>
              <a:endParaRPr lang="en-US" altLang="ko-KR" sz="20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0828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9F1E9-E5EB-7ED1-FD18-646D1138A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D0985E-1109-AA03-4401-7F52797EA563}"/>
              </a:ext>
            </a:extLst>
          </p:cNvPr>
          <p:cNvSpPr txBox="1"/>
          <p:nvPr/>
        </p:nvSpPr>
        <p:spPr>
          <a:xfrm>
            <a:off x="4160983" y="341808"/>
            <a:ext cx="387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latin typeface="+mn-ea"/>
              </a:rPr>
              <a:t>데이터 준비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82495A0-1992-B750-FE62-04C46CBE67D9}"/>
              </a:ext>
            </a:extLst>
          </p:cNvPr>
          <p:cNvGrpSpPr/>
          <p:nvPr/>
        </p:nvGrpSpPr>
        <p:grpSpPr>
          <a:xfrm>
            <a:off x="492257" y="1348555"/>
            <a:ext cx="6862618" cy="999644"/>
            <a:chOff x="729674" y="1524687"/>
            <a:chExt cx="6862618" cy="9996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A445ED2-E8B1-E10D-282E-D383489BC838}"/>
                </a:ext>
              </a:extLst>
            </p:cNvPr>
            <p:cNvSpPr txBox="1"/>
            <p:nvPr/>
          </p:nvSpPr>
          <p:spPr>
            <a:xfrm>
              <a:off x="729674" y="1524687"/>
              <a:ext cx="68626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atin typeface="+mn-ea"/>
                </a:rPr>
                <a:t>1. </a:t>
              </a:r>
              <a:r>
                <a:rPr lang="ko-KR" altLang="en-US" sz="2800" b="1" dirty="0">
                  <a:latin typeface="+mn-ea"/>
                </a:rPr>
                <a:t>데이터 가져오기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54F3A3-2243-767E-F5B0-39A4E9AF1773}"/>
                </a:ext>
              </a:extLst>
            </p:cNvPr>
            <p:cNvSpPr txBox="1"/>
            <p:nvPr/>
          </p:nvSpPr>
          <p:spPr>
            <a:xfrm>
              <a:off x="1279965" y="2124221"/>
              <a:ext cx="398120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000" dirty="0" err="1">
                  <a:latin typeface="+mn-ea"/>
                </a:rPr>
                <a:t>yfinance</a:t>
              </a:r>
              <a:r>
                <a:rPr lang="en-US" altLang="ko-KR" sz="2000" dirty="0">
                  <a:latin typeface="+mn-ea"/>
                </a:rPr>
                <a:t> </a:t>
              </a:r>
              <a:r>
                <a:rPr lang="ko-KR" altLang="en-US" sz="2000" dirty="0">
                  <a:latin typeface="+mn-ea"/>
                </a:rPr>
                <a:t>라이브러리 사용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DB9CE05-AFAC-4AAB-3373-C3397CEA1BE7}"/>
              </a:ext>
            </a:extLst>
          </p:cNvPr>
          <p:cNvGrpSpPr/>
          <p:nvPr/>
        </p:nvGrpSpPr>
        <p:grpSpPr>
          <a:xfrm>
            <a:off x="319863" y="2614794"/>
            <a:ext cx="11552273" cy="3558521"/>
            <a:chOff x="492257" y="2730540"/>
            <a:chExt cx="11552273" cy="355852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164362A9-4057-1E92-2361-615F061B3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41323"/>
            <a:stretch/>
          </p:blipFill>
          <p:spPr>
            <a:xfrm>
              <a:off x="6094274" y="2730540"/>
              <a:ext cx="5950256" cy="3558521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1E1013AA-BCF4-7474-85D2-6CF53B363C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257" y="2962230"/>
              <a:ext cx="5771357" cy="3095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8817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6ECD6-9D24-F1BE-D82C-130D128E2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31FAE2-7668-5816-F1E4-254ACEFAD663}"/>
              </a:ext>
            </a:extLst>
          </p:cNvPr>
          <p:cNvSpPr txBox="1"/>
          <p:nvPr/>
        </p:nvSpPr>
        <p:spPr>
          <a:xfrm>
            <a:off x="4160983" y="341808"/>
            <a:ext cx="387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latin typeface="+mn-ea"/>
                <a:cs typeface="Malgun Gothic Semilight" panose="020B0503020000020004" pitchFamily="34" charset="-127"/>
              </a:rPr>
              <a:t>데이터 준비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EE32B1A-9108-1D44-D931-981EC70EF74C}"/>
              </a:ext>
            </a:extLst>
          </p:cNvPr>
          <p:cNvGrpSpPr/>
          <p:nvPr/>
        </p:nvGrpSpPr>
        <p:grpSpPr>
          <a:xfrm>
            <a:off x="492257" y="1348555"/>
            <a:ext cx="6862618" cy="1307420"/>
            <a:chOff x="729674" y="1524687"/>
            <a:chExt cx="6862618" cy="130742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0FCDB52-0FBF-A617-12F5-68DA4D6163D5}"/>
                </a:ext>
              </a:extLst>
            </p:cNvPr>
            <p:cNvSpPr txBox="1"/>
            <p:nvPr/>
          </p:nvSpPr>
          <p:spPr>
            <a:xfrm>
              <a:off x="729674" y="1524687"/>
              <a:ext cx="68626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atin typeface="+mn-ea"/>
                  <a:cs typeface="Malgun Gothic Semilight" panose="020B0503020000020004" pitchFamily="34" charset="-127"/>
                </a:rPr>
                <a:t>2. </a:t>
              </a:r>
              <a:r>
                <a:rPr lang="ko-KR" altLang="en-US" sz="2800" b="1" dirty="0">
                  <a:latin typeface="+mn-ea"/>
                  <a:cs typeface="Malgun Gothic Semilight" panose="020B0503020000020004" pitchFamily="34" charset="-127"/>
                </a:rPr>
                <a:t>주요 기술적 데이터 계산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65DF86F-7BFE-31DE-2E17-32DD3CED398D}"/>
                </a:ext>
              </a:extLst>
            </p:cNvPr>
            <p:cNvSpPr txBox="1"/>
            <p:nvPr/>
          </p:nvSpPr>
          <p:spPr>
            <a:xfrm>
              <a:off x="1279965" y="2124221"/>
              <a:ext cx="440089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latin typeface="+mn-ea"/>
                  <a:cs typeface="Malgun Gothic Semilight" panose="020B0503020000020004" pitchFamily="34" charset="-127"/>
                </a:rPr>
                <a:t>rolling(),</a:t>
              </a:r>
              <a:r>
                <a:rPr lang="ko-KR" altLang="en-US" sz="2000" dirty="0">
                  <a:latin typeface="+mn-ea"/>
                  <a:cs typeface="Malgun Gothic Semilight" panose="020B0503020000020004" pitchFamily="34" charset="-127"/>
                </a:rPr>
                <a:t> </a:t>
              </a:r>
              <a:r>
                <a:rPr lang="en-US" altLang="ko-KR" sz="2000" dirty="0" err="1">
                  <a:latin typeface="+mn-ea"/>
                  <a:cs typeface="Malgun Gothic Semilight" panose="020B0503020000020004" pitchFamily="34" charset="-127"/>
                </a:rPr>
                <a:t>ewm</a:t>
              </a:r>
              <a:r>
                <a:rPr lang="en-US" altLang="ko-KR" sz="2000" dirty="0">
                  <a:latin typeface="+mn-ea"/>
                  <a:cs typeface="Malgun Gothic Semilight" panose="020B0503020000020004" pitchFamily="34" charset="-127"/>
                </a:rPr>
                <a:t>() </a:t>
              </a:r>
              <a:r>
                <a:rPr lang="ko-KR" altLang="en-US" sz="2000" dirty="0">
                  <a:latin typeface="+mn-ea"/>
                  <a:cs typeface="Malgun Gothic Semilight" panose="020B0503020000020004" pitchFamily="34" charset="-127"/>
                </a:rPr>
                <a:t>함수 사용</a:t>
              </a:r>
              <a:endParaRPr lang="en-US" altLang="ko-KR" sz="2000" dirty="0">
                <a:latin typeface="+mn-ea"/>
                <a:cs typeface="Malgun Gothic Semilight" panose="020B0503020000020004" pitchFamily="34" charset="-127"/>
              </a:endParaRP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000" dirty="0">
                  <a:latin typeface="+mn-ea"/>
                  <a:cs typeface="Malgun Gothic Semilight" panose="020B0503020000020004" pitchFamily="34" charset="-127"/>
                </a:rPr>
                <a:t>ta-lib(</a:t>
              </a:r>
              <a:r>
                <a:rPr lang="ko-KR" altLang="en-US" sz="2000" dirty="0">
                  <a:latin typeface="+mn-ea"/>
                  <a:cs typeface="Malgun Gothic Semilight" panose="020B0503020000020004" pitchFamily="34" charset="-127"/>
                </a:rPr>
                <a:t>기술 분석 라이브러리</a:t>
              </a:r>
              <a:r>
                <a:rPr lang="en-US" altLang="ko-KR" sz="2000" dirty="0">
                  <a:latin typeface="+mn-ea"/>
                  <a:cs typeface="Malgun Gothic Semilight" panose="020B0503020000020004" pitchFamily="34" charset="-127"/>
                </a:rPr>
                <a:t>)</a:t>
              </a:r>
              <a:r>
                <a:rPr lang="ko-KR" altLang="en-US" sz="2000" dirty="0">
                  <a:latin typeface="+mn-ea"/>
                  <a:cs typeface="Malgun Gothic Semilight" panose="020B0503020000020004" pitchFamily="34" charset="-127"/>
                </a:rPr>
                <a:t> 이용</a:t>
              </a: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81E8C599-A286-7B23-E8A4-DD43C0C6F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427" y="4593242"/>
            <a:ext cx="7104423" cy="215508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A5FE0D27-77E5-9D52-28E6-879BAA7FE1C7}"/>
              </a:ext>
            </a:extLst>
          </p:cNvPr>
          <p:cNvGrpSpPr/>
          <p:nvPr/>
        </p:nvGrpSpPr>
        <p:grpSpPr>
          <a:xfrm>
            <a:off x="1510338" y="2809811"/>
            <a:ext cx="8276826" cy="1705794"/>
            <a:chOff x="1173788" y="2732289"/>
            <a:chExt cx="8276826" cy="170579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D8DC35C-04B3-27C0-86F8-61412A8D15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49536"/>
            <a:stretch/>
          </p:blipFill>
          <p:spPr>
            <a:xfrm>
              <a:off x="1173788" y="2732289"/>
              <a:ext cx="4138413" cy="1705794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67286D0-0C3C-C176-E2E8-9D40FAB5B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9576"/>
            <a:stretch/>
          </p:blipFill>
          <p:spPr>
            <a:xfrm>
              <a:off x="5312201" y="2732289"/>
              <a:ext cx="4138413" cy="17044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77860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6F9B7-54E9-069C-334C-7D0B0B995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98960E-E511-72B6-97B2-2E93F939931A}"/>
              </a:ext>
            </a:extLst>
          </p:cNvPr>
          <p:cNvSpPr txBox="1"/>
          <p:nvPr/>
        </p:nvSpPr>
        <p:spPr>
          <a:xfrm>
            <a:off x="4160983" y="341808"/>
            <a:ext cx="387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latin typeface="+mn-ea"/>
              </a:rPr>
              <a:t>데이터 준비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76A48CE-68E1-CB3D-7569-CF66E8DB7380}"/>
              </a:ext>
            </a:extLst>
          </p:cNvPr>
          <p:cNvGrpSpPr/>
          <p:nvPr/>
        </p:nvGrpSpPr>
        <p:grpSpPr>
          <a:xfrm>
            <a:off x="492257" y="1348555"/>
            <a:ext cx="6862618" cy="999644"/>
            <a:chOff x="729674" y="1524687"/>
            <a:chExt cx="6862618" cy="9996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1144AE-CA3F-71E9-1D2C-259CBF09BACB}"/>
                </a:ext>
              </a:extLst>
            </p:cNvPr>
            <p:cNvSpPr txBox="1"/>
            <p:nvPr/>
          </p:nvSpPr>
          <p:spPr>
            <a:xfrm>
              <a:off x="729674" y="1524687"/>
              <a:ext cx="68626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atin typeface="+mn-ea"/>
                </a:rPr>
                <a:t>3. </a:t>
              </a:r>
              <a:r>
                <a:rPr lang="ko-KR" altLang="en-US" sz="2800" b="1" dirty="0">
                  <a:latin typeface="+mn-ea"/>
                </a:rPr>
                <a:t>스케일링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9AF093-1F44-7639-859D-D80517E78CE9}"/>
                </a:ext>
              </a:extLst>
            </p:cNvPr>
            <p:cNvSpPr txBox="1"/>
            <p:nvPr/>
          </p:nvSpPr>
          <p:spPr>
            <a:xfrm>
              <a:off x="1279965" y="2124221"/>
              <a:ext cx="532015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000" dirty="0" err="1">
                  <a:latin typeface="+mn-ea"/>
                </a:rPr>
                <a:t>MinMaxScaler</a:t>
              </a:r>
              <a:r>
                <a:rPr lang="en-US" altLang="ko-KR" sz="2000" dirty="0">
                  <a:latin typeface="+mn-ea"/>
                </a:rPr>
                <a:t>(), </a:t>
              </a:r>
              <a:r>
                <a:rPr lang="en-US" altLang="ko-KR" sz="2000" dirty="0" err="1">
                  <a:latin typeface="+mn-ea"/>
                </a:rPr>
                <a:t>fit_transform</a:t>
              </a:r>
              <a:r>
                <a:rPr lang="en-US" altLang="ko-KR" sz="2000" dirty="0">
                  <a:latin typeface="+mn-ea"/>
                </a:rPr>
                <a:t>() </a:t>
              </a:r>
              <a:r>
                <a:rPr lang="ko-KR" altLang="en-US" sz="2000" dirty="0">
                  <a:latin typeface="+mn-ea"/>
                </a:rPr>
                <a:t>함수 사용</a:t>
              </a:r>
              <a:endParaRPr lang="en-US" altLang="ko-KR" sz="2000" b="0" dirty="0">
                <a:solidFill>
                  <a:srgbClr val="000000"/>
                </a:solidFill>
                <a:effectLst/>
                <a:latin typeface="+mn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3115272-1E4D-1FDB-8FBF-B58FF2AABC7D}"/>
              </a:ext>
            </a:extLst>
          </p:cNvPr>
          <p:cNvGrpSpPr/>
          <p:nvPr/>
        </p:nvGrpSpPr>
        <p:grpSpPr>
          <a:xfrm>
            <a:off x="1454782" y="2575777"/>
            <a:ext cx="6178826" cy="3810899"/>
            <a:chOff x="1275168" y="2648143"/>
            <a:chExt cx="6178826" cy="381089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DCE9C28-8CB5-940C-EF67-40D5AFA25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75168" y="2648143"/>
              <a:ext cx="6178826" cy="136994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11C2B17-FB50-BA3B-DB83-555C70408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168" y="4153192"/>
              <a:ext cx="6178826" cy="2305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8854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51F38-2DCF-92E6-049B-012597D69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7E018C-844F-4BAB-B5A8-AC4681DBF925}"/>
              </a:ext>
            </a:extLst>
          </p:cNvPr>
          <p:cNvSpPr txBox="1"/>
          <p:nvPr/>
        </p:nvSpPr>
        <p:spPr>
          <a:xfrm>
            <a:off x="4160983" y="341808"/>
            <a:ext cx="387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latin typeface="+mn-ea"/>
              </a:rPr>
              <a:t>데이터 준비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BE6259D-BE76-6B7D-B3D3-B0F25556A774}"/>
              </a:ext>
            </a:extLst>
          </p:cNvPr>
          <p:cNvGrpSpPr/>
          <p:nvPr/>
        </p:nvGrpSpPr>
        <p:grpSpPr>
          <a:xfrm>
            <a:off x="492257" y="1348555"/>
            <a:ext cx="6862618" cy="999644"/>
            <a:chOff x="729674" y="1524687"/>
            <a:chExt cx="6862618" cy="99964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CA00484-0AE3-1DD7-5484-AC36B4D103D3}"/>
                </a:ext>
              </a:extLst>
            </p:cNvPr>
            <p:cNvSpPr txBox="1"/>
            <p:nvPr/>
          </p:nvSpPr>
          <p:spPr>
            <a:xfrm>
              <a:off x="729674" y="1524687"/>
              <a:ext cx="686261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dirty="0">
                  <a:latin typeface="+mn-ea"/>
                </a:rPr>
                <a:t>4. </a:t>
              </a:r>
              <a:r>
                <a:rPr lang="ko-KR" altLang="en-US" sz="2800" b="1" dirty="0">
                  <a:latin typeface="+mn-ea"/>
                </a:rPr>
                <a:t>재무제표 데이터 가져오기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6F6C6E9-99C7-59EF-E432-E597591940C1}"/>
                </a:ext>
              </a:extLst>
            </p:cNvPr>
            <p:cNvSpPr txBox="1"/>
            <p:nvPr/>
          </p:nvSpPr>
          <p:spPr>
            <a:xfrm>
              <a:off x="1279965" y="2124221"/>
              <a:ext cx="537052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altLang="ko-KR" sz="2000" dirty="0"/>
                <a:t>Requests, </a:t>
              </a:r>
              <a:r>
                <a:rPr lang="en-US" altLang="ko-KR" sz="2000" dirty="0" err="1"/>
                <a:t>BeautifulSoup</a:t>
              </a:r>
              <a:r>
                <a:rPr lang="en-US" altLang="ko-KR" sz="2000" dirty="0">
                  <a:latin typeface="+mn-ea"/>
                </a:rPr>
                <a:t> </a:t>
              </a:r>
              <a:r>
                <a:rPr lang="ko-KR" altLang="en-US" sz="2000" dirty="0">
                  <a:latin typeface="+mn-ea"/>
                </a:rPr>
                <a:t>라이브러리 사용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017908D-3AC1-403C-8DB1-3126C993AADE}"/>
              </a:ext>
            </a:extLst>
          </p:cNvPr>
          <p:cNvGrpSpPr/>
          <p:nvPr/>
        </p:nvGrpSpPr>
        <p:grpSpPr>
          <a:xfrm>
            <a:off x="344801" y="2582899"/>
            <a:ext cx="11502398" cy="3959330"/>
            <a:chOff x="306697" y="2556862"/>
            <a:chExt cx="11502398" cy="395933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0D5F7E4-C7C2-1B60-98FC-CDF4AA4B8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6697" y="2556862"/>
              <a:ext cx="5950256" cy="2749940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B21FC1BD-F5AA-5AC2-3696-526FB4BCA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6953" y="3766253"/>
              <a:ext cx="5552142" cy="27499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15507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C1D3A5F-2D62-37DB-1DC3-E307ED61AB7C}"/>
              </a:ext>
            </a:extLst>
          </p:cNvPr>
          <p:cNvSpPr txBox="1"/>
          <p:nvPr/>
        </p:nvSpPr>
        <p:spPr>
          <a:xfrm>
            <a:off x="1514522" y="4913497"/>
            <a:ext cx="9162956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/>
              <a:t>LSTM </a:t>
            </a:r>
            <a:r>
              <a:rPr lang="ko-KR" altLang="en-US" b="1"/>
              <a:t>모델은 시계열 데이터의 장기 의존성을 잘 학습할 수 있는 순환 신경망</a:t>
            </a:r>
            <a:r>
              <a:rPr lang="en-US" altLang="ko-KR" b="1"/>
              <a:t>(RNN)</a:t>
            </a:r>
          </a:p>
          <a:p>
            <a:pPr>
              <a:lnSpc>
                <a:spcPct val="150000"/>
              </a:lnSpc>
            </a:pPr>
            <a:r>
              <a:rPr lang="en-US" altLang="ko-KR" b="1"/>
              <a:t>( </a:t>
            </a:r>
            <a:r>
              <a:rPr lang="ko-KR" altLang="en-US" b="1"/>
              <a:t>이전 데이터의 흐름을 반영하여 주식 가격과 같은 시계열 데이터를 분석하는 데 유리 </a:t>
            </a:r>
            <a:r>
              <a:rPr lang="en-US" altLang="ko-KR" b="1"/>
              <a:t>)</a:t>
            </a:r>
            <a:endParaRPr lang="ko-KR" altLang="en-US" b="1"/>
          </a:p>
        </p:txBody>
      </p:sp>
      <p:pic>
        <p:nvPicPr>
          <p:cNvPr id="1026" name="Picture 2" descr="LSTM - 인코덤, 생물정보 전문위키">
            <a:extLst>
              <a:ext uri="{FF2B5EF4-FFF2-40B4-BE49-F238E27FC236}">
                <a16:creationId xmlns:a16="http://schemas.microsoft.com/office/drawing/2014/main" id="{95CDF57C-2A0E-1062-4E49-3A30D8407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4"/>
          <a:stretch/>
        </p:blipFill>
        <p:spPr bwMode="auto">
          <a:xfrm>
            <a:off x="3138535" y="1730079"/>
            <a:ext cx="5914930" cy="2450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5CF07B-6BA6-32F8-2FB3-8F39656D7A47}"/>
              </a:ext>
            </a:extLst>
          </p:cNvPr>
          <p:cNvSpPr txBox="1"/>
          <p:nvPr/>
        </p:nvSpPr>
        <p:spPr>
          <a:xfrm>
            <a:off x="4160983" y="341808"/>
            <a:ext cx="387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/>
              <a:t>LSTM</a:t>
            </a:r>
            <a:endParaRPr lang="ko-KR" altLang="en-US" sz="3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74836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3AD09-8C65-C5A7-B14B-C3510A821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8437B93-F32E-AE70-76D9-9AED0A98F968}"/>
              </a:ext>
            </a:extLst>
          </p:cNvPr>
          <p:cNvSpPr txBox="1"/>
          <p:nvPr/>
        </p:nvSpPr>
        <p:spPr>
          <a:xfrm>
            <a:off x="1574454" y="2214276"/>
            <a:ext cx="5826125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/>
              <a:t>이전 </a:t>
            </a:r>
            <a:r>
              <a:rPr lang="en-US" altLang="ko-KR" b="1"/>
              <a:t>60</a:t>
            </a:r>
            <a:r>
              <a:rPr lang="ko-KR" altLang="en-US" b="1"/>
              <a:t>일간의 주가 데이터를 통하여</a:t>
            </a:r>
            <a:endParaRPr lang="en-US" altLang="ko-KR" b="1"/>
          </a:p>
          <a:p>
            <a:pPr>
              <a:lnSpc>
                <a:spcPct val="150000"/>
              </a:lnSpc>
            </a:pPr>
            <a:r>
              <a:rPr lang="ko-KR" altLang="en-US" b="1"/>
              <a:t>다음날의 주가가 오를지 내릴지 예측 수행</a:t>
            </a:r>
            <a:endParaRPr lang="en-US" altLang="ko-KR" b="1"/>
          </a:p>
          <a:p>
            <a:pPr>
              <a:lnSpc>
                <a:spcPct val="150000"/>
              </a:lnSpc>
            </a:pPr>
            <a:r>
              <a:rPr lang="en-US" altLang="ko-KR" b="1"/>
              <a:t>Window_size = 60</a:t>
            </a:r>
            <a:endParaRPr lang="ko-KR" altLang="en-US" b="1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67D5958-E552-7B72-8E41-71FC1412B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8091" y="1278380"/>
            <a:ext cx="1286956" cy="49333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E529AC-1B8A-FDC2-B93B-C6F7155AA382}"/>
              </a:ext>
            </a:extLst>
          </p:cNvPr>
          <p:cNvSpPr txBox="1"/>
          <p:nvPr/>
        </p:nvSpPr>
        <p:spPr>
          <a:xfrm>
            <a:off x="1574454" y="4097321"/>
            <a:ext cx="5826125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/>
              <a:t>학습 데이터</a:t>
            </a:r>
            <a:r>
              <a:rPr lang="en-US" altLang="ko-KR" b="1"/>
              <a:t>: </a:t>
            </a:r>
            <a:r>
              <a:rPr lang="ko-KR" altLang="en-US" b="1"/>
              <a:t>주가 데이터 </a:t>
            </a:r>
            <a:r>
              <a:rPr lang="en-US" altLang="ko-KR" b="1"/>
              <a:t>+ </a:t>
            </a:r>
            <a:r>
              <a:rPr lang="ko-KR" altLang="en-US" b="1"/>
              <a:t>기술적 지표</a:t>
            </a:r>
            <a:endParaRPr lang="en-US" altLang="ko-KR" b="1"/>
          </a:p>
          <a:p>
            <a:pPr>
              <a:lnSpc>
                <a:spcPct val="150000"/>
              </a:lnSpc>
            </a:pPr>
            <a:r>
              <a:rPr lang="ko-KR" altLang="en-US" b="1"/>
              <a:t>아마존 주가 </a:t>
            </a:r>
            <a:r>
              <a:rPr lang="en-US" altLang="ko-KR" b="1"/>
              <a:t>5</a:t>
            </a:r>
            <a:r>
              <a:rPr lang="ko-KR" altLang="en-US" b="1"/>
              <a:t>년 학습 </a:t>
            </a:r>
            <a:r>
              <a:rPr lang="en-US" altLang="ko-KR" b="1"/>
              <a:t>: </a:t>
            </a:r>
            <a:r>
              <a:rPr lang="ko-KR" altLang="en-US" b="1"/>
              <a:t>최근 </a:t>
            </a:r>
            <a:r>
              <a:rPr lang="en-US" altLang="ko-KR" b="1"/>
              <a:t>1</a:t>
            </a:r>
            <a:r>
              <a:rPr lang="ko-KR" altLang="en-US" b="1"/>
              <a:t>년 테스트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F35FC2-6CB4-E946-6B53-D6CBA471EBE8}"/>
              </a:ext>
            </a:extLst>
          </p:cNvPr>
          <p:cNvSpPr txBox="1"/>
          <p:nvPr/>
        </p:nvSpPr>
        <p:spPr>
          <a:xfrm>
            <a:off x="4160983" y="341808"/>
            <a:ext cx="387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/>
              <a:t>LSTM</a:t>
            </a:r>
            <a:endParaRPr lang="ko-KR" altLang="en-US" sz="3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3940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FBC2-8696-E949-E3C3-D8ADD3C66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0FE5C3C-3827-9E3B-B0B3-2C2BE0D708CD}"/>
              </a:ext>
            </a:extLst>
          </p:cNvPr>
          <p:cNvSpPr txBox="1"/>
          <p:nvPr/>
        </p:nvSpPr>
        <p:spPr>
          <a:xfrm>
            <a:off x="714374" y="4271050"/>
            <a:ext cx="1056322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/>
              <a:t>Best parameters: </a:t>
            </a:r>
          </a:p>
          <a:p>
            <a:pPr algn="ctr"/>
            <a:r>
              <a:rPr lang="en-US" altLang="ko-KR"/>
              <a:t>{'batch_size': 20, 'epochs': 50, 'model__dropout_rate': 0.3, </a:t>
            </a:r>
          </a:p>
          <a:p>
            <a:pPr algn="ctr"/>
            <a:r>
              <a:rPr lang="en-US" altLang="ko-KR"/>
              <a:t>'model__learning_rate': 0.001, 'model__optimizer': 'adam', 'model__units': 128}</a:t>
            </a:r>
          </a:p>
          <a:p>
            <a:pPr algn="ctr"/>
            <a:endParaRPr lang="en-US" altLang="ko-KR"/>
          </a:p>
          <a:p>
            <a:pPr algn="ctr"/>
            <a:r>
              <a:rPr lang="en-US" altLang="ko-KR" b="1"/>
              <a:t>Best cross-validation score:</a:t>
            </a:r>
            <a:r>
              <a:rPr lang="en-US" altLang="ko-KR"/>
              <a:t> 0.4832</a:t>
            </a:r>
          </a:p>
          <a:p>
            <a:pPr algn="ctr"/>
            <a:endParaRPr lang="en-US" altLang="ko-KR"/>
          </a:p>
          <a:p>
            <a:pPr algn="ctr"/>
            <a:r>
              <a:rPr lang="en-US" altLang="ko-KR" b="1"/>
              <a:t>1</a:t>
            </a:r>
            <a:r>
              <a:rPr lang="ko-KR" altLang="en-US" b="1"/>
              <a:t>년간 투자 후 최종 수익률</a:t>
            </a:r>
            <a:r>
              <a:rPr lang="en-US" altLang="ko-KR" b="1"/>
              <a:t>: </a:t>
            </a:r>
            <a:r>
              <a:rPr lang="en-US" altLang="ko-KR"/>
              <a:t>13.48%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563241F-9FA7-6823-F31B-9B4C80A90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00" y="1426863"/>
            <a:ext cx="5816600" cy="24054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34EC63-6F84-7AFD-FD95-64B81BFAF70F}"/>
              </a:ext>
            </a:extLst>
          </p:cNvPr>
          <p:cNvSpPr txBox="1"/>
          <p:nvPr/>
        </p:nvSpPr>
        <p:spPr>
          <a:xfrm>
            <a:off x="4160983" y="341808"/>
            <a:ext cx="387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/>
              <a:t>LSTM</a:t>
            </a:r>
            <a:endParaRPr lang="ko-KR" altLang="en-US" sz="3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7744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976EF-1C20-BC88-AD49-F9B41786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C5ACA64-B60A-077F-948F-F52599663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450" y="1654740"/>
            <a:ext cx="4991100" cy="44767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2398EA-06BE-2FA5-3C41-3292C538EB62}"/>
              </a:ext>
            </a:extLst>
          </p:cNvPr>
          <p:cNvSpPr txBox="1"/>
          <p:nvPr/>
        </p:nvSpPr>
        <p:spPr>
          <a:xfrm>
            <a:off x="4160983" y="341808"/>
            <a:ext cx="387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/>
              <a:t>LSTM</a:t>
            </a:r>
            <a:endParaRPr lang="ko-KR" altLang="en-US" sz="3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7957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304</Words>
  <Application>Microsoft Office PowerPoint</Application>
  <PresentationFormat>와이드스크린</PresentationFormat>
  <Paragraphs>62</Paragraphs>
  <Slides>13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새굴림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jys8105@outlook.kr</dc:creator>
  <cp:lastModifiedBy>jys8105@outlook.kr</cp:lastModifiedBy>
  <cp:revision>8</cp:revision>
  <dcterms:created xsi:type="dcterms:W3CDTF">2024-11-07T10:19:21Z</dcterms:created>
  <dcterms:modified xsi:type="dcterms:W3CDTF">2024-11-07T16:31:06Z</dcterms:modified>
</cp:coreProperties>
</file>