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60C0F-5462-7BEE-13B9-0D38F8A56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815AC7-8AC1-65BA-FD1C-A1B2DB8A2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82CA12-3A8E-F5BD-C42A-C6FB9F0F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152340-48C4-AF79-3A46-5DCF76BD2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A958BD-C472-A3E0-EFDE-1AED72DC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692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222A8-2CCC-0FA3-CDF4-D1AA96C72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1732A6-1574-E342-7308-69CE3778C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6CEE9E-03A5-9EEB-EF15-5FB6347C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4089AF-F74F-CEEF-C94F-C3B64327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B35BE5-DB67-13F0-06D0-4AACBA11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30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E1AC4-2BFA-61E5-D29B-546206C44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9E247C-B03C-E0EC-1B8E-4545BE12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5E219C-D85F-D179-1BBD-8FCF6E14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F907F-C60E-5B7F-34AB-A49332FE3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D9E8F-6B86-4843-3C05-777C115C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713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98C9B-2A24-05EF-87CF-21F19928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11773-EF48-FBA4-0535-2C5FC1E4C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6513B5-A6C1-0BAE-A0DC-382471094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9EE28D-F9CF-644F-A915-797C32F3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2D5EA5-62EF-2A1C-8253-90997D471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8143E4-A849-E1AA-ACAC-49E9AE5B3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04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4E81E-99FA-5BF3-C8FD-010C3A8F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995CB-AC45-D099-938A-11753AF92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94F42B-D2B4-26AF-DCCF-F820EFAC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7FE1434-98F2-9F8E-6C46-052951EC1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F8873C-FEBC-EFEC-65E2-1930ED839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BA0931-9FF2-D552-F2BC-5E727964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3E1AD6-7C43-8AFD-4E50-CE84B190D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B1D80-000B-1348-E359-7B3819E4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48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2F075-D08B-3FB9-E3CD-8B8D55685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7283B2-5E11-C969-02E5-DD8EF88FC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AB3C3A-A04D-379D-1ED4-3B7312C1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636616-F378-87DC-D9E3-953DC48A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915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3AA846C-B16B-74EF-A1CA-F5970B40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251EEA-4421-D3E0-F840-8E995BC0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EE5479-924C-7578-A17F-EA2E109D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54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C176F-4D59-F8E1-3E1B-B4ABCCF6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AE7C61-987B-0D07-6AAB-91464D7DC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92CCA1-E69E-8C7D-C8AA-586F62623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C63892-8F7B-7821-4BED-811A4F94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438803-A501-0C87-F868-C5BA3C42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001A9D-2BBB-DB0E-818F-F7A436C8A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540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0CF4D-2ECE-9B73-D42D-6F862A13E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AE7EAE-BB50-0A4B-2716-938A46914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34B443-3847-6C0E-3D47-08ACCF68E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0DF8C8-E658-7782-1E27-78FD9AEB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12B963-9D4C-4B57-7244-89838AA6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BBC0CD-3586-342C-964D-2C5C6AB3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44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54095E-0009-80AD-CE86-10C05334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28BA9E-4383-9233-9F51-8434F7E7C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84EB60-F56E-A21D-A637-4D5512578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93120D-C658-CB0F-1CBD-FE82631AF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C66F82-0E77-C759-89F0-C59F1403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414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D2E48C-9FDB-BDB0-151D-ECFDBB239C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C3EFD5-29C4-6EF9-5A20-527BDCC5C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4C64B1-91AA-C871-C4F5-63C8DF77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00A1ED-EF23-EA7D-5BCD-F846CEB4D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E8779C-4D2B-B9E0-A093-D0A27493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258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2494F7-B2EC-F8E2-84BB-A635052B3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6ABB9F-87F9-8188-1D8E-75AA3DBC2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DF3363-2167-E838-60D6-E77B42B17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F9356-DA8E-4938-8401-079863C3FA40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FAFE96-DEA6-A468-645B-7A7368F42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448D9-D4C2-D206-CC20-4A061EDCE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27D08-3A68-45F4-876B-B0E1C0BBAB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16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142242-4917-9611-12C9-62BBBAEFB715}"/>
              </a:ext>
            </a:extLst>
          </p:cNvPr>
          <p:cNvSpPr txBox="1"/>
          <p:nvPr/>
        </p:nvSpPr>
        <p:spPr>
          <a:xfrm>
            <a:off x="2663227" y="2413337"/>
            <a:ext cx="68655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6000" b="1"/>
              <a:t>가격 예측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96942-5B03-1B97-84C2-949B1F5D2897}"/>
              </a:ext>
            </a:extLst>
          </p:cNvPr>
          <p:cNvSpPr txBox="1"/>
          <p:nvPr/>
        </p:nvSpPr>
        <p:spPr>
          <a:xfrm>
            <a:off x="10085560" y="5576933"/>
            <a:ext cx="17292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/>
              <a:t> 팀장 백아영</a:t>
            </a:r>
            <a:endParaRPr lang="en-US" altLang="ko-KR"/>
          </a:p>
          <a:p>
            <a:pPr algn="r"/>
            <a:r>
              <a:rPr lang="ko-KR" altLang="en-US"/>
              <a:t>조영서</a:t>
            </a:r>
            <a:endParaRPr lang="en-US" altLang="ko-KR"/>
          </a:p>
          <a:p>
            <a:pPr algn="r"/>
            <a:r>
              <a:rPr lang="ko-KR" altLang="en-US"/>
              <a:t>김유정</a:t>
            </a:r>
          </a:p>
        </p:txBody>
      </p:sp>
    </p:spTree>
    <p:extLst>
      <p:ext uri="{BB962C8B-B14F-4D97-AF65-F5344CB8AC3E}">
        <p14:creationId xmlns:p14="http://schemas.microsoft.com/office/powerpoint/2010/main" val="46719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142242-4917-9611-12C9-62BBBAEFB715}"/>
              </a:ext>
            </a:extLst>
          </p:cNvPr>
          <p:cNvSpPr txBox="1"/>
          <p:nvPr/>
        </p:nvSpPr>
        <p:spPr>
          <a:xfrm>
            <a:off x="952123" y="453146"/>
            <a:ext cx="6865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/>
              <a:t>주제 선정 이유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99C64-B40A-BAF1-0348-7011DA0219FC}"/>
              </a:ext>
            </a:extLst>
          </p:cNvPr>
          <p:cNvSpPr txBox="1"/>
          <p:nvPr/>
        </p:nvSpPr>
        <p:spPr>
          <a:xfrm>
            <a:off x="624688" y="1465449"/>
            <a:ext cx="10429593" cy="2793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400">
                <a:latin typeface="Arial" panose="020B0604020202020204" pitchFamily="34" charset="0"/>
                <a:ea typeface="바탕" panose="02030600000101010101" pitchFamily="18" charset="-127"/>
              </a:rPr>
              <a:t>▪</a:t>
            </a:r>
            <a:r>
              <a:rPr lang="ko-KR" altLang="en-US" sz="2400"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ko-KR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과거 데이터를 분석하여 가격 변동 패턴을 찾고</a:t>
            </a:r>
            <a:r>
              <a:rPr kumimoji="0" lang="en-US" altLang="ko-KR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이를 바탕으로 합리적이고 객관적인 예측을 할 수 있습니다</a:t>
            </a:r>
            <a:r>
              <a:rPr kumimoji="0" lang="en-US" altLang="ko-KR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sz="24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2400">
                <a:latin typeface="Arial" panose="020B0604020202020204" pitchFamily="34" charset="0"/>
                <a:ea typeface="바탕" panose="02030600000101010101" pitchFamily="18" charset="-127"/>
              </a:rPr>
              <a:t>▪</a:t>
            </a:r>
            <a:r>
              <a:rPr lang="ko-KR" altLang="en-US" sz="2400"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kumimoji="0" lang="ko-KR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감정이나 주관적인 판단에 의존하지 않고</a:t>
            </a:r>
            <a:r>
              <a:rPr kumimoji="0" lang="en-US" altLang="ko-KR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ko-KR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데이터에 기반한 의사 결정을 내릴 수 있습니다</a:t>
            </a:r>
            <a:r>
              <a:rPr kumimoji="0" lang="en-US" altLang="ko-KR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1419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142242-4917-9611-12C9-62BBBAEFB715}"/>
              </a:ext>
            </a:extLst>
          </p:cNvPr>
          <p:cNvSpPr txBox="1"/>
          <p:nvPr/>
        </p:nvSpPr>
        <p:spPr>
          <a:xfrm>
            <a:off x="952123" y="453145"/>
            <a:ext cx="6865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/>
              <a:t>핵심 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90365-0E09-2E27-522D-F47123B5FB4E}"/>
              </a:ext>
            </a:extLst>
          </p:cNvPr>
          <p:cNvSpPr txBox="1"/>
          <p:nvPr/>
        </p:nvSpPr>
        <p:spPr>
          <a:xfrm>
            <a:off x="624688" y="1465449"/>
            <a:ext cx="1042959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2000">
                <a:latin typeface="Arial" panose="020B0604020202020204" pitchFamily="34" charset="0"/>
              </a:rPr>
              <a:t>1. </a:t>
            </a:r>
            <a:r>
              <a:rPr kumimoji="0" lang="ko-KR" altLang="ko-KR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 데이터를 다루기 위해 </a:t>
            </a:r>
            <a:r>
              <a:rPr kumimoji="0" lang="ko-KR" altLang="ko-K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대규모 데이터 </a:t>
            </a:r>
            <a:r>
              <a:rPr kumimoji="0" lang="ko-KR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</a:t>
            </a:r>
            <a:r>
              <a:rPr kumimoji="0" lang="ko-KR" altLang="ko-K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처리 기술</a:t>
            </a:r>
            <a:endParaRPr kumimoji="0" lang="en-US" altLang="ko-KR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2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</a:t>
            </a:r>
            <a:r>
              <a:rPr kumimoji="0" lang="ko-KR" altLang="ko-KR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과거 데이터를 기반으로 </a:t>
            </a:r>
            <a:r>
              <a:rPr kumimoji="0" lang="ko-KR" altLang="ko-K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미래 가격을 예측하는 알고리즘</a:t>
            </a:r>
            <a:r>
              <a:rPr kumimoji="0" lang="ko-KR" altLang="ko-KR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설계</a:t>
            </a:r>
            <a:r>
              <a:rPr kumimoji="0" lang="en-US" altLang="ko-KR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및</a:t>
            </a:r>
            <a:r>
              <a:rPr kumimoji="0" lang="ko-KR" altLang="ko-KR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최적화</a:t>
            </a:r>
            <a:endParaRPr kumimoji="0" lang="en-US" altLang="ko-KR" sz="2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ko-KR" altLang="ko-KR" sz="2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ko-KR" altLang="ko-K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 분석</a:t>
            </a:r>
            <a:r>
              <a:rPr kumimoji="0" lang="en-US" altLang="ko-K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및</a:t>
            </a:r>
            <a:r>
              <a:rPr kumimoji="0" lang="ko-KR" altLang="ko-KR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시각화</a:t>
            </a:r>
            <a:endParaRPr kumimoji="0" lang="en-US" altLang="ko-KR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ko-KR" sz="20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KR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</a:t>
            </a:r>
            <a:r>
              <a:rPr lang="ko-KR" altLang="en-US" sz="2000"/>
              <a:t>예측 알고리즘의 성능을 평가하고</a:t>
            </a:r>
            <a:r>
              <a:rPr lang="en-US" altLang="ko-KR" sz="2000"/>
              <a:t>, </a:t>
            </a:r>
            <a:r>
              <a:rPr lang="ko-KR" altLang="en-US" sz="2000" b="1"/>
              <a:t>모델의 정확도</a:t>
            </a:r>
            <a:r>
              <a:rPr lang="ko-KR" altLang="en-US" sz="2000"/>
              <a:t>를 높이기 위한 과정</a:t>
            </a:r>
            <a:endParaRPr kumimoji="0" lang="ko-KR" altLang="ko-KR" sz="2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516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5B8058-ECA3-0A43-79E8-C1737186F1BC}"/>
              </a:ext>
            </a:extLst>
          </p:cNvPr>
          <p:cNvSpPr txBox="1"/>
          <p:nvPr/>
        </p:nvSpPr>
        <p:spPr>
          <a:xfrm>
            <a:off x="952123" y="1283967"/>
            <a:ext cx="98396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/>
              <a:t>FinanceDataReader</a:t>
            </a:r>
            <a:r>
              <a:rPr lang="en-US" altLang="ko-KR" b="1"/>
              <a:t> </a:t>
            </a:r>
            <a:r>
              <a:rPr lang="ko-KR" altLang="en-US" sz="1600"/>
              <a:t>는 주가 데이터를 편리하게 가져올 수 있는 파이썬 패키지입니다</a:t>
            </a:r>
            <a:r>
              <a:rPr lang="en-US" altLang="ko-KR" sz="1600"/>
              <a:t>.</a:t>
            </a:r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E8D2EF9-D497-9AF9-2C7C-D86049A21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286" y="1899347"/>
            <a:ext cx="4438462" cy="4678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E7F2C0-FA28-599E-E5C0-742FD7C45A8F}"/>
              </a:ext>
            </a:extLst>
          </p:cNvPr>
          <p:cNvSpPr txBox="1"/>
          <p:nvPr/>
        </p:nvSpPr>
        <p:spPr>
          <a:xfrm>
            <a:off x="7523179" y="4546622"/>
            <a:ext cx="2455752" cy="203132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b="1"/>
              <a:t>컬럼 설명</a:t>
            </a:r>
          </a:p>
          <a:p>
            <a:r>
              <a:rPr lang="en-US" altLang="ko-KR"/>
              <a:t>- Open: 	</a:t>
            </a:r>
            <a:r>
              <a:rPr lang="ko-KR" altLang="en-US"/>
              <a:t>시가</a:t>
            </a:r>
          </a:p>
          <a:p>
            <a:r>
              <a:rPr lang="en-US" altLang="ko-KR"/>
              <a:t>- High: 	</a:t>
            </a:r>
            <a:r>
              <a:rPr lang="ko-KR" altLang="en-US"/>
              <a:t>고가</a:t>
            </a:r>
          </a:p>
          <a:p>
            <a:r>
              <a:rPr lang="en-US" altLang="ko-KR"/>
              <a:t>- Low: 	</a:t>
            </a:r>
            <a:r>
              <a:rPr lang="ko-KR" altLang="en-US"/>
              <a:t>저가</a:t>
            </a:r>
          </a:p>
          <a:p>
            <a:r>
              <a:rPr lang="en-US" altLang="ko-KR"/>
              <a:t>- Close: 	</a:t>
            </a:r>
            <a:r>
              <a:rPr lang="ko-KR" altLang="en-US"/>
              <a:t>종가</a:t>
            </a:r>
          </a:p>
          <a:p>
            <a:r>
              <a:rPr lang="en-US" altLang="ko-KR"/>
              <a:t>- Volume: </a:t>
            </a:r>
            <a:r>
              <a:rPr lang="ko-KR" altLang="en-US"/>
              <a:t>거래량</a:t>
            </a:r>
          </a:p>
          <a:p>
            <a:r>
              <a:rPr lang="en-US" altLang="ko-KR"/>
              <a:t>- Change: </a:t>
            </a:r>
            <a:r>
              <a:rPr lang="ko-KR" altLang="en-US"/>
              <a:t>대비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B8F6C6-4F0A-CEAD-F37B-CD206786EACA}"/>
              </a:ext>
            </a:extLst>
          </p:cNvPr>
          <p:cNvSpPr txBox="1"/>
          <p:nvPr/>
        </p:nvSpPr>
        <p:spPr>
          <a:xfrm>
            <a:off x="952123" y="453145"/>
            <a:ext cx="6865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/>
              <a:t>1. </a:t>
            </a:r>
            <a:r>
              <a:rPr lang="ko-KR" altLang="en-US" sz="3200" b="1"/>
              <a:t>데이터 불러오기</a:t>
            </a:r>
          </a:p>
        </p:txBody>
      </p:sp>
    </p:spTree>
    <p:extLst>
      <p:ext uri="{BB962C8B-B14F-4D97-AF65-F5344CB8AC3E}">
        <p14:creationId xmlns:p14="http://schemas.microsoft.com/office/powerpoint/2010/main" val="2352492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0B8F6C6-4F0A-CEAD-F37B-CD206786EACA}"/>
              </a:ext>
            </a:extLst>
          </p:cNvPr>
          <p:cNvSpPr txBox="1"/>
          <p:nvPr/>
        </p:nvSpPr>
        <p:spPr>
          <a:xfrm>
            <a:off x="952123" y="453145"/>
            <a:ext cx="6865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/>
              <a:t>2. </a:t>
            </a:r>
            <a:r>
              <a:rPr lang="ko-KR" altLang="en-US" sz="3200" b="1"/>
              <a:t>시각화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27FAB7-801E-B7CA-5B93-97CF3FA6D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478" y="1160939"/>
            <a:ext cx="8151044" cy="531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5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5B8058-ECA3-0A43-79E8-C1737186F1BC}"/>
              </a:ext>
            </a:extLst>
          </p:cNvPr>
          <p:cNvSpPr txBox="1"/>
          <p:nvPr/>
        </p:nvSpPr>
        <p:spPr>
          <a:xfrm>
            <a:off x="952123" y="1283967"/>
            <a:ext cx="1095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주가 데이터에 대하여 딥러닝 모델이 더 잘 학습할 수 있도록 </a:t>
            </a:r>
            <a:r>
              <a:rPr lang="ko-KR" altLang="en-US" b="1"/>
              <a:t>정규화</a:t>
            </a:r>
            <a:r>
              <a:rPr lang="en-US" altLang="ko-KR" b="1"/>
              <a:t>(Normalization)</a:t>
            </a:r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B8F6C6-4F0A-CEAD-F37B-CD206786EACA}"/>
              </a:ext>
            </a:extLst>
          </p:cNvPr>
          <p:cNvSpPr txBox="1"/>
          <p:nvPr/>
        </p:nvSpPr>
        <p:spPr>
          <a:xfrm>
            <a:off x="952123" y="453145"/>
            <a:ext cx="6865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/>
              <a:t>3. </a:t>
            </a:r>
            <a:r>
              <a:rPr lang="ko-KR" altLang="en-US" sz="3200" b="1"/>
              <a:t>데이터 전처리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C87176-96BA-25B6-A8FA-A2D35C6F5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310389"/>
            <a:ext cx="891540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8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D5B8058-ECA3-0A43-79E8-C1737186F1BC}"/>
              </a:ext>
            </a:extLst>
          </p:cNvPr>
          <p:cNvSpPr txBox="1"/>
          <p:nvPr/>
        </p:nvSpPr>
        <p:spPr>
          <a:xfrm>
            <a:off x="952123" y="1181084"/>
            <a:ext cx="10953550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/>
              <a:t>x_train</a:t>
            </a:r>
            <a:r>
              <a:rPr lang="ko-KR" altLang="en-US"/>
              <a:t>과 </a:t>
            </a:r>
            <a:r>
              <a:rPr lang="en-US" altLang="ko-KR" b="1"/>
              <a:t>x_test</a:t>
            </a:r>
            <a:r>
              <a:rPr lang="ko-KR" altLang="en-US"/>
              <a:t>는 </a:t>
            </a:r>
            <a:r>
              <a:rPr lang="en-US" altLang="ko-KR"/>
              <a:t>'Close' </a:t>
            </a:r>
            <a:r>
              <a:rPr lang="ko-KR" altLang="en-US"/>
              <a:t>열을 제외한 입력 데이터이고</a:t>
            </a:r>
            <a:r>
              <a:rPr lang="en-US" altLang="ko-KR"/>
              <a:t>, </a:t>
            </a:r>
            <a:r>
              <a:rPr lang="en-US" altLang="ko-KR" b="1"/>
              <a:t>y_train</a:t>
            </a:r>
            <a:r>
              <a:rPr lang="ko-KR" altLang="en-US"/>
              <a:t>과 </a:t>
            </a:r>
            <a:r>
              <a:rPr lang="en-US" altLang="ko-KR" b="1"/>
              <a:t>y_test</a:t>
            </a:r>
            <a:r>
              <a:rPr lang="ko-KR" altLang="en-US"/>
              <a:t>는 </a:t>
            </a:r>
            <a:r>
              <a:rPr lang="en-US" altLang="ko-KR"/>
              <a:t>'Close' </a:t>
            </a:r>
            <a:r>
              <a:rPr lang="ko-KR" altLang="en-US"/>
              <a:t>열의 값입니다</a:t>
            </a:r>
            <a:r>
              <a:rPr lang="en-US" altLang="ko-KR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데이터의 </a:t>
            </a:r>
            <a:r>
              <a:rPr lang="en-US" altLang="ko-KR"/>
              <a:t>80%</a:t>
            </a:r>
            <a:r>
              <a:rPr lang="ko-KR" altLang="en-US"/>
              <a:t>를 학습 데이터로 사용하고</a:t>
            </a:r>
            <a:r>
              <a:rPr lang="en-US" altLang="ko-KR"/>
              <a:t>, </a:t>
            </a:r>
            <a:r>
              <a:rPr lang="ko-KR" altLang="en-US"/>
              <a:t>나머지 </a:t>
            </a:r>
            <a:r>
              <a:rPr lang="en-US" altLang="ko-KR"/>
              <a:t>20%</a:t>
            </a:r>
            <a:r>
              <a:rPr lang="ko-KR" altLang="en-US"/>
              <a:t>를 테스트 데이터로 사용합니다</a:t>
            </a:r>
            <a:r>
              <a:rPr lang="en-US" altLang="ko-KR"/>
              <a:t>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B8F6C6-4F0A-CEAD-F37B-CD206786EACA}"/>
              </a:ext>
            </a:extLst>
          </p:cNvPr>
          <p:cNvSpPr txBox="1"/>
          <p:nvPr/>
        </p:nvSpPr>
        <p:spPr>
          <a:xfrm>
            <a:off x="952123" y="453145"/>
            <a:ext cx="6865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/>
              <a:t>4. Train / Test </a:t>
            </a:r>
            <a:r>
              <a:rPr lang="ko-KR" altLang="en-US" sz="3200" b="1"/>
              <a:t>분할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ED0748-2E9B-BE4D-AD9B-FB370D395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2275519"/>
            <a:ext cx="8915400" cy="376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67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0B8F6C6-4F0A-CEAD-F37B-CD206786EACA}"/>
              </a:ext>
            </a:extLst>
          </p:cNvPr>
          <p:cNvSpPr txBox="1"/>
          <p:nvPr/>
        </p:nvSpPr>
        <p:spPr>
          <a:xfrm>
            <a:off x="952123" y="453145"/>
            <a:ext cx="10400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/>
              <a:t>5. TensroFlow Dataset</a:t>
            </a:r>
            <a:r>
              <a:rPr lang="ko-KR" altLang="en-US" sz="3200" b="1"/>
              <a:t>을 활용한 시퀀스 데이터셋 구성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B4421C-0267-C6F2-89EC-4CDF9469A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409" y="1442608"/>
            <a:ext cx="6737792" cy="473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914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0B8F6C6-4F0A-CEAD-F37B-CD206786EACA}"/>
              </a:ext>
            </a:extLst>
          </p:cNvPr>
          <p:cNvSpPr txBox="1"/>
          <p:nvPr/>
        </p:nvSpPr>
        <p:spPr>
          <a:xfrm>
            <a:off x="952123" y="453145"/>
            <a:ext cx="10400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/>
              <a:t>6. </a:t>
            </a:r>
            <a:r>
              <a:rPr lang="ko-KR" altLang="en-US" sz="3200" b="1"/>
              <a:t>모델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DA751D-2738-865D-838E-A6A9B50AA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602" y="1464234"/>
            <a:ext cx="7472796" cy="468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89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0B8F6C6-4F0A-CEAD-F37B-CD206786EACA}"/>
              </a:ext>
            </a:extLst>
          </p:cNvPr>
          <p:cNvSpPr txBox="1"/>
          <p:nvPr/>
        </p:nvSpPr>
        <p:spPr>
          <a:xfrm>
            <a:off x="952123" y="453145"/>
            <a:ext cx="10400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b="1"/>
              <a:t>7. </a:t>
            </a:r>
            <a:r>
              <a:rPr lang="ko-KR" altLang="en-US" sz="3200" b="1"/>
              <a:t>예측 데이터 시각화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1B0F32C-5478-BED7-988E-1418B43B5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467" y="2309090"/>
            <a:ext cx="4927066" cy="423487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18EB6B6-8908-2B93-F053-32E290F6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467" y="1113780"/>
            <a:ext cx="4927066" cy="115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29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0B8F6C6-4F0A-CEAD-F37B-CD206786EACA}"/>
              </a:ext>
            </a:extLst>
          </p:cNvPr>
          <p:cNvSpPr txBox="1"/>
          <p:nvPr/>
        </p:nvSpPr>
        <p:spPr>
          <a:xfrm>
            <a:off x="961177" y="1630095"/>
            <a:ext cx="1040092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/>
              <a:t>1. </a:t>
            </a:r>
            <a:r>
              <a:rPr lang="ko-KR" altLang="en-US" sz="2000" b="1"/>
              <a:t>추세 및 패턴 분석 </a:t>
            </a:r>
            <a:r>
              <a:rPr lang="en-US" altLang="ko-KR" sz="2000" b="1"/>
              <a:t>:</a:t>
            </a:r>
          </a:p>
          <a:p>
            <a:r>
              <a:rPr lang="ko-KR" altLang="en-US" sz="2000"/>
              <a:t>주가의 장기 및 단기 추세를 분석하여 모델에 반영합니다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주가 패턴</a:t>
            </a:r>
            <a:r>
              <a:rPr lang="en-US" altLang="ko-KR" sz="2000"/>
              <a:t>(</a:t>
            </a:r>
            <a:r>
              <a:rPr lang="ko-KR" altLang="en-US" sz="2000"/>
              <a:t>예</a:t>
            </a:r>
            <a:r>
              <a:rPr lang="en-US" altLang="ko-KR" sz="2000"/>
              <a:t>: </a:t>
            </a:r>
            <a:r>
              <a:rPr lang="ko-KR" altLang="en-US" sz="2000"/>
              <a:t>헤드 앤 숄더</a:t>
            </a:r>
            <a:r>
              <a:rPr lang="en-US" altLang="ko-KR" sz="2000"/>
              <a:t>, </a:t>
            </a:r>
            <a:r>
              <a:rPr lang="ko-KR" altLang="en-US" sz="2000"/>
              <a:t>더블 탑 등</a:t>
            </a:r>
            <a:r>
              <a:rPr lang="en-US" altLang="ko-KR" sz="2000"/>
              <a:t>)</a:t>
            </a:r>
            <a:r>
              <a:rPr lang="ko-KR" altLang="en-US" sz="2000"/>
              <a:t>을 인식하고 이를 모델에 반영합니다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 b="1"/>
              <a:t>2. </a:t>
            </a:r>
            <a:r>
              <a:rPr lang="ko-KR" altLang="en-US" sz="2000" b="1"/>
              <a:t>거래량 </a:t>
            </a:r>
            <a:r>
              <a:rPr lang="en-US" altLang="ko-KR" sz="2000" b="1"/>
              <a:t>:</a:t>
            </a:r>
          </a:p>
          <a:p>
            <a:r>
              <a:rPr lang="ko-KR" altLang="en-US" sz="2000"/>
              <a:t>거래량과 주가의 상관관계를 분석하여 모델에 반영합니다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 b="1"/>
              <a:t>3. </a:t>
            </a:r>
            <a:r>
              <a:rPr lang="ko-KR" altLang="en-US" sz="2000" b="1"/>
              <a:t>관련주 시황 </a:t>
            </a:r>
            <a:r>
              <a:rPr lang="en-US" altLang="ko-KR" sz="2000" b="1"/>
              <a:t>:</a:t>
            </a:r>
          </a:p>
          <a:p>
            <a:r>
              <a:rPr lang="ko-KR" altLang="en-US" sz="2000"/>
              <a:t>관련 주식의 시황을 분석하여 삼성전자 주가에 미치는 영향을 파악합니다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 b="1"/>
              <a:t>4. </a:t>
            </a:r>
            <a:r>
              <a:rPr lang="ko-KR" altLang="en-US" sz="2000" b="1"/>
              <a:t>뉴스 기사 시황 </a:t>
            </a:r>
            <a:r>
              <a:rPr lang="en-US" altLang="ko-KR" sz="2000" b="1"/>
              <a:t>:</a:t>
            </a:r>
          </a:p>
          <a:p>
            <a:r>
              <a:rPr lang="ko-KR" altLang="en-US" sz="2000"/>
              <a:t>뉴스 기사 데이터를 수집하고 감성 분석을 통해 긍정적</a:t>
            </a:r>
            <a:r>
              <a:rPr lang="en-US" altLang="ko-KR" sz="2000"/>
              <a:t>/</a:t>
            </a:r>
            <a:r>
              <a:rPr lang="ko-KR" altLang="en-US" sz="2000"/>
              <a:t>부정적 영향을 파악합니다</a:t>
            </a:r>
            <a:r>
              <a:rPr lang="en-US" altLang="ko-KR" sz="200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54BC4-E4DE-1D45-E5C1-3EB0D9A6975A}"/>
              </a:ext>
            </a:extLst>
          </p:cNvPr>
          <p:cNvSpPr txBox="1"/>
          <p:nvPr/>
        </p:nvSpPr>
        <p:spPr>
          <a:xfrm>
            <a:off x="952123" y="453145"/>
            <a:ext cx="10400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/>
              <a:t>예측 모델 성능 개선 방법</a:t>
            </a:r>
          </a:p>
        </p:txBody>
      </p:sp>
    </p:spTree>
    <p:extLst>
      <p:ext uri="{BB962C8B-B14F-4D97-AF65-F5344CB8AC3E}">
        <p14:creationId xmlns:p14="http://schemas.microsoft.com/office/powerpoint/2010/main" val="1722116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C254BC4-E4DE-1D45-E5C1-3EB0D9A6975A}"/>
              </a:ext>
            </a:extLst>
          </p:cNvPr>
          <p:cNvSpPr txBox="1"/>
          <p:nvPr/>
        </p:nvSpPr>
        <p:spPr>
          <a:xfrm>
            <a:off x="952123" y="453145"/>
            <a:ext cx="10400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b="1"/>
              <a:t>예측 모델 성능 개선 방법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8F6C6-4F0A-CEAD-F37B-CD206786EACA}"/>
              </a:ext>
            </a:extLst>
          </p:cNvPr>
          <p:cNvSpPr txBox="1"/>
          <p:nvPr/>
        </p:nvSpPr>
        <p:spPr>
          <a:xfrm>
            <a:off x="961177" y="1630095"/>
            <a:ext cx="1075400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/>
              <a:t>5. </a:t>
            </a:r>
            <a:r>
              <a:rPr lang="ko-KR" altLang="en-US" sz="2000" b="1"/>
              <a:t>이동평균선 </a:t>
            </a:r>
            <a:r>
              <a:rPr lang="en-US" altLang="ko-KR" sz="2000" b="1"/>
              <a:t>:</a:t>
            </a:r>
          </a:p>
          <a:p>
            <a:r>
              <a:rPr lang="ko-KR" altLang="en-US" sz="2000"/>
              <a:t>단기 및 장기 이동평균선을 계산하여 주가의 추세를 파악합니다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이동평균선 교차</a:t>
            </a:r>
            <a:r>
              <a:rPr lang="en-US" altLang="ko-KR" sz="2000"/>
              <a:t>(</a:t>
            </a:r>
            <a:r>
              <a:rPr lang="ko-KR" altLang="en-US" sz="2000"/>
              <a:t>골든 크로스</a:t>
            </a:r>
            <a:r>
              <a:rPr lang="en-US" altLang="ko-KR" sz="2000"/>
              <a:t>, </a:t>
            </a:r>
            <a:r>
              <a:rPr lang="ko-KR" altLang="en-US" sz="2000"/>
              <a:t>데드 크로스</a:t>
            </a:r>
            <a:r>
              <a:rPr lang="en-US" altLang="ko-KR" sz="2000"/>
              <a:t>)</a:t>
            </a:r>
            <a:r>
              <a:rPr lang="ko-KR" altLang="en-US" sz="2000"/>
              <a:t>와 같은 신호를 모델에 반영합니다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 b="1"/>
              <a:t>6. </a:t>
            </a:r>
            <a:r>
              <a:rPr lang="ko-KR" altLang="en-US" sz="2000" b="1"/>
              <a:t>저항선 및 지지선 </a:t>
            </a:r>
            <a:r>
              <a:rPr lang="en-US" altLang="ko-KR" sz="2000" b="1"/>
              <a:t>:</a:t>
            </a:r>
          </a:p>
          <a:p>
            <a:r>
              <a:rPr lang="ko-KR" altLang="en-US" sz="2000"/>
              <a:t>주가의 저항선과 지지선을 파악하여 주요 가격대를 분석합니다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저항선 및 지지선 돌파 여부를 모델에 반영합니다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 b="1"/>
              <a:t>7. </a:t>
            </a:r>
            <a:r>
              <a:rPr lang="ko-KR" altLang="en-US" sz="2000" b="1"/>
              <a:t>기타 기술적 지표 </a:t>
            </a:r>
            <a:r>
              <a:rPr lang="en-US" altLang="ko-KR" sz="2000" b="1"/>
              <a:t>:</a:t>
            </a:r>
          </a:p>
          <a:p>
            <a:r>
              <a:rPr lang="en-US" altLang="ko-KR" sz="2000"/>
              <a:t>RSI, MACD, </a:t>
            </a:r>
            <a:r>
              <a:rPr lang="ko-KR" altLang="en-US" sz="2000"/>
              <a:t>볼린저 밴드 등 다양한 기술적 지표를 활용하여 주가의 과매수</a:t>
            </a:r>
            <a:r>
              <a:rPr lang="en-US" altLang="ko-KR" sz="2000"/>
              <a:t>/</a:t>
            </a:r>
            <a:r>
              <a:rPr lang="ko-KR" altLang="en-US" sz="2000"/>
              <a:t>과매도 상태를 파악합니다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r>
              <a:rPr lang="en-US" altLang="ko-KR" sz="2000" b="1"/>
              <a:t>8. </a:t>
            </a:r>
            <a:r>
              <a:rPr lang="ko-KR" altLang="en-US" sz="2000" b="1"/>
              <a:t>가치투자 요소 </a:t>
            </a:r>
            <a:r>
              <a:rPr lang="en-US" altLang="ko-KR" sz="2000" b="1"/>
              <a:t>:</a:t>
            </a:r>
          </a:p>
          <a:p>
            <a:r>
              <a:rPr lang="ko-KR" altLang="en-US" sz="2000"/>
              <a:t>기업의 재무제표</a:t>
            </a:r>
            <a:r>
              <a:rPr lang="en-US" altLang="ko-KR" sz="2000"/>
              <a:t>, P/E </a:t>
            </a:r>
            <a:r>
              <a:rPr lang="ko-KR" altLang="en-US" sz="2000"/>
              <a:t>비율</a:t>
            </a:r>
            <a:r>
              <a:rPr lang="en-US" altLang="ko-KR" sz="2000"/>
              <a:t>, P/B </a:t>
            </a:r>
            <a:r>
              <a:rPr lang="ko-KR" altLang="en-US" sz="2000"/>
              <a:t>비율 등 가치투자 지표를 분석합니다</a:t>
            </a:r>
            <a:r>
              <a:rPr lang="en-US" altLang="ko-KR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37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405</Words>
  <Application>Microsoft Office PowerPoint</Application>
  <PresentationFormat>와이드스크린</PresentationFormat>
  <Paragraphs>61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바탕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jys8105@outlook.kr</dc:creator>
  <cp:lastModifiedBy>jys8105@outlook.kr</cp:lastModifiedBy>
  <cp:revision>2</cp:revision>
  <dcterms:created xsi:type="dcterms:W3CDTF">2024-09-18T14:00:01Z</dcterms:created>
  <dcterms:modified xsi:type="dcterms:W3CDTF">2024-09-19T04:41:08Z</dcterms:modified>
</cp:coreProperties>
</file>